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13716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PRESENTATION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AirCherenkov</a:t>
            </a:r>
          </a:p>
          <a:p>
            <a:pPr>
              <a:spcAft>
                <a:spcPts val="2000"/>
              </a:spcAft>
              <a:defRPr sz="2000">
                <a:solidFill>
                  <a:srgbClr val="94A3B8"/>
                </a:solidFill>
              </a:defRPr>
            </a:pPr>
            <a:r>
              <a:t>A GPU-Accelerated Spatiotemporal GNN Pipeline for VHE Gamma-Ray Astronomy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Physics Motivation &amp;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Bridging GPU Monte Carlo Cascades with Graph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Engineering Breakthroughs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Overcoming traditional CPU simulation and 2D image reduction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93338" cy="914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GPU Tensorized Monte Carlo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Fully parallelized PyTorch cascade engine tracking physical interactions across thousands of particles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9178" y="1828800"/>
            <a:ext cx="3393338" cy="914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Photon Bunching Optimization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100:1 packet bunching reduces VRAM &amp; pagination bottlenecks by 100x for 30 TeV hadronic showers.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6836" y="1828800"/>
            <a:ext cx="3393338" cy="914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9716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Spatiotemporal GNN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Graph representation of hexagonal camera pixels preserving 16-bin FADC temporal waveforms without image flattening.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Performance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Empirical metrics from GPU-accelerated simulation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1066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00E5FF"/>
                </a:solidFill>
              </a:defRPr>
            </a:pPr>
            <a:r>
              <a:t>87.25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Showers / sec overall throughput on single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5143" y="2377440"/>
            <a:ext cx="211066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00E5FF"/>
                </a:solidFill>
              </a:defRPr>
            </a:pPr>
            <a:r>
              <a:t>2,000,000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Showers currently in production (10 GeV – 30 TeV)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5887" y="2377440"/>
            <a:ext cx="211066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00E5FF"/>
                </a:solidFill>
              </a:defRPr>
            </a:pPr>
            <a:r>
              <a:t>137,309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Array-triggered events generated in 28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3751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6631" y="2377440"/>
            <a:ext cx="211066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00E5FF"/>
                </a:solidFill>
              </a:defRPr>
            </a:pPr>
            <a:r>
              <a:t>100x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VRAM memory footprint reduction via packet bunching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Simulation &amp; Analysis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From atmospheric air shower cascade to science-ready spectral reconstruction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2286000"/>
            <a:ext cx="1097280" cy="36576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9277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1. Cascade Generation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Tensorized MC tracks particle splitting, bremsstrahlung, pair production, &amp; geomagnetic deflection.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2263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56583" y="2286000"/>
            <a:ext cx="1097280" cy="36576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6583" y="2834640"/>
            <a:ext cx="19277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2. Ray-Tracing &amp; FADC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Batched optical photon propagation onto 469-pixel hex cameras with digitized 16-bin waveforms.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07327" y="2286000"/>
            <a:ext cx="1097280" cy="36576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834640"/>
            <a:ext cx="19277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3. GNN Reconstruction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Unified graph neural net regresses primary energy and outputs gamma/hadron classification probability.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3751" y="2011680"/>
            <a:ext cx="2476423" cy="393192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58071" y="2286000"/>
            <a:ext cx="1097280" cy="36576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071" y="2834640"/>
            <a:ext cx="19277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4. IRF &amp; Forward-Folding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Effective area and energy migration matrices folded with assumed source models via likelihood fit.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DATA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Generated Dataset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Overview of Monte Carlo datasets produced by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E5FF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134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E5FF"/>
                          </a:solidFill>
                        </a:defRPr>
                      </a:pPr>
                      <a:r>
                        <a:t>Target Events</a:t>
                      </a:r>
                    </a:p>
                  </a:txBody>
                  <a:tcPr>
                    <a:solidFill>
                      <a:srgbClr val="134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E5FF"/>
                          </a:solidFill>
                        </a:defRPr>
                      </a:pPr>
                      <a:r>
                        <a:t>Triggered Events</a:t>
                      </a:r>
                    </a:p>
                  </a:txBody>
                  <a:tcPr>
                    <a:solidFill>
                      <a:srgbClr val="134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E5FF"/>
                          </a:solidFill>
                        </a:defRPr>
                      </a:pPr>
                      <a:r>
                        <a:t>Energy Range</a:t>
                      </a:r>
                    </a:p>
                  </a:txBody>
                  <a:tcPr>
                    <a:solidFill>
                      <a:srgbClr val="134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E5FF"/>
                          </a:solidFill>
                        </a:defRPr>
                      </a:pPr>
                      <a:r>
                        <a:t>Spectral Index</a:t>
                      </a:r>
                    </a:p>
                  </a:txBody>
                  <a:tcPr>
                    <a:solidFill>
                      <a:srgbClr val="13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Crab Baseline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137,309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 GeV – 30 TeV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E^-2.0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Production Campaign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 GeV – 30 TeV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E^-2.0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Standard Train Set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20,000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16,198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100 GeV – 10 TeV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E^-2.0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Pseudodata Test Set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3,251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100 GeV – 10 TeV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E^-2.0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IRF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Instrument Response Functions (IRFs)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Direct derivation of observational response from simulation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93338" cy="914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Effective Area A_eff(E, θ, φ)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Calculated from ratio of array-triggered gamma events to total thrown within maximum impact radius.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9178" y="1828800"/>
            <a:ext cx="3393338" cy="914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Energy Migration Matrix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2D probability density map P(E_reco | E_true) quantifying energy resolution and bias.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28800"/>
            <a:ext cx="3393338" cy="429768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6836" y="1828800"/>
            <a:ext cx="3393338" cy="9144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9716" y="2103120"/>
            <a:ext cx="302757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Cosmic Ray Background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Residual hadronic background rate evaluated by running simulated protons through GNN class 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Outlook &amp; Science Roadmap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Next steps for spectral reconstruction and distributed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134E64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Immediate 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Key milestones for upcoming collaboration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 Complete 2M shower production run (10 GeV – 30 TeV) to populate low-energy IRF matrices.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 Perform maximum-likelihood forward-folding on Crab Nebula pseudodata to extract spectral index and flux.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 Expand checkpointing system for multi-node distributed GPU cluster generation.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 Publish methods paper and release open-source codebase at github.com/drarun/AirCherenkov.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61F33"/>
          </a:solidFill>
          <a:ln>
            <a:solidFill>
              <a:srgbClr val="1E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37160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i="1">
                <a:solidFill>
                  <a:srgbClr val="FFFFFF"/>
                </a:solidFill>
              </a:defRPr>
            </a:pPr>
            <a:r>
              <a:t>“By natively retaining spatiotemporal Cherenkov light profiles on GPU tensor graphs, AirCherenkov unlocks unprecedented speed and energy resolution for atmospheric shower reconstruction.”</a:t>
            </a:r>
          </a:p>
          <a:p>
            <a:pPr>
              <a:defRPr sz="1600" b="1">
                <a:solidFill>
                  <a:srgbClr val="00E5FF"/>
                </a:solidFill>
              </a:defRPr>
            </a:pPr>
            <a:r>
              <a:t>— Arun S. Madhavan — AirCherenkov Project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Antigravity 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571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Madhavan</cp:lastModifiedBy>
  <cp:revision>2</cp:revision>
  <dcterms:created xsi:type="dcterms:W3CDTF">2013-01-27T09:14:16Z</dcterms:created>
  <dcterms:modified xsi:type="dcterms:W3CDTF">2026-08-08T15:32:09Z</dcterms:modified>
  <cp:category/>
</cp:coreProperties>
</file>